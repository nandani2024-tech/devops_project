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645920"/>
            <a:ext cx="3840480" cy="365760"/>
          </a:xfrm>
          <a:prstGeom prst="roundRect">
            <a:avLst/>
          </a:prstGeom>
          <a:solidFill>
            <a:srgbClr val="0F172A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6B6D4"/>
                </a:solidFill>
              </a:defRPr>
            </a:pPr>
            <a:r>
              <a:t>DEVOPS CAPSTONE | SESSION 21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BugBoard</a:t>
            </a:r>
          </a:p>
          <a:p>
            <a:pPr>
              <a:spcBef>
                <a:spcPts val="800"/>
              </a:spcBef>
              <a:defRPr sz="2000">
                <a:solidFill>
                  <a:srgbClr val="06B6D4"/>
                </a:solidFill>
              </a:defRPr>
            </a:pPr>
            <a:r>
              <a:t>Cloud-Native Bug Tracking &amp; Deterministic Code Analysis</a:t>
            </a:r>
          </a:p>
          <a:p>
            <a:pPr>
              <a:spcBef>
                <a:spcPts val="1400"/>
              </a:spcBef>
              <a:defRPr sz="1400">
                <a:solidFill>
                  <a:srgbClr val="E2E8F0"/>
                </a:solidFill>
              </a:defRPr>
            </a:pPr>
            <a:r>
              <a:t>Transforming how engineering teams triage defects with automated root-cause analysis and shift-left CI/CD pipelines.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448056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Presenter: Nandani Kumari  |  Scaler School of Technology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Stack: React 18 • FastAPI • PostgreSQL • Docker • GitHub Actions • Trivy • Terraform • Kubernetes • Helm • Prometheus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EXECUTIVE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The Problem &amp; The Solution: Why BugBoard?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43F5E"/>
                </a:solidFill>
              </a:defRPr>
            </a:pPr>
            <a:r>
              <a:t>THE PROBLEM WE SOLVE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Expensive Production Failures: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Defects caught in production are 15x more expensive to resolve and disrupt user trust.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Slow &amp; Manual Triage: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Engineers spend hours manually reproducing bug reports without immediate access to code context.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Siloed Toolchains: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Traditional issue trackers are disconnected from code repositories and deployment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28800"/>
            <a:ext cx="4663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</a:defRPr>
            </a:pPr>
            <a:r>
              <a:t>THE BUGBOARD PLATFORM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Deterministic Code Analyzer: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Unpacks project archives, extracts code snippets, and pinpoints exact lines with actionable fixes.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Automated Quality Gates: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Every commit is verified through isolated unit tests, frontend builds, and vulnerability scans.</a:t>
            </a:r>
          </a:p>
          <a:p>
            <a:pPr>
              <a:spcBef>
                <a:spcPts val="1400"/>
              </a:spcBef>
              <a:defRPr sz="1300" b="1">
                <a:solidFill>
                  <a:srgbClr val="F8FAFC"/>
                </a:solidFill>
              </a:defRPr>
            </a:pPr>
            <a:r>
              <a:t>• Production Cloud Delivery: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  Self-healing Kubernetes clusters running resilient multi-replica deployments with zero downtime.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End-to-End Automation Lifecycle: From Code to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10312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WRITE &amp; COMMIT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Developer commits code to GitHub repository with branch protection rules.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03120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2. TEST &amp; SECURE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Automated Pytest unit tests, Vite compilation, and Trivy CVE scanning in CI.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2103120"/>
            <a:ext cx="2103120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PACKAGE &amp; RELEASE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Hardened non-root containers built &amp; dual-pushed to GHCR and Docker Hub.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828800"/>
            <a:ext cx="2468880" cy="42062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0" y="2103120"/>
            <a:ext cx="21031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0" y="2377440"/>
            <a:ext cx="2103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4. DEPLOY &amp; MONITOR</a:t>
            </a:r>
          </a:p>
          <a:p>
            <a:pPr>
              <a:spcBef>
                <a:spcPts val="1400"/>
              </a:spcBef>
              <a:defRPr sz="1200">
                <a:solidFill>
                  <a:srgbClr val="E2E8F0"/>
                </a:solidFill>
              </a:defRPr>
            </a:pPr>
            <a:r>
              <a:t>Helm deploys 2 replicas to Kubernetes; Prometheus scrapes live metrics.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ARCHITECTURE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Technology Choices &amp; Strategic Trade-offs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  <a:gridCol w="2377440"/>
                <a:gridCol w="3566160"/>
              </a:tblGrid>
              <a:tr h="877824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Architecture Tier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Chosen Solution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Alternative Considered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Strategic Business Rationale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Container Orchestration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Kubernetes &amp; Helm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Standalone Docker / EC2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Enables self-healing pods, automated rolling updates, and declarative cluster scaling.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Microservices Stack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FastAPI + React 18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Django Monolith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Decoupled frontend &amp; backend scale independently; delivers sub-second API execution.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Persistence &amp; Schema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PostgreSQL + Alembic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Raw SQLite / MongoDB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Enforces ACID relational integrity for bug audit trails with trackable schema migrations.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Telemetry Pipeline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Prometheus + Grafana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94A3B8"/>
                          </a:solidFill>
                        </a:defRPr>
                      </a:pPr>
                      <a:r>
                        <a:t>Standard Server Logs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E2E8F0"/>
                          </a:solidFill>
                        </a:defRPr>
                      </a:pPr>
                      <a:r>
                        <a:t>Provides real-time visibility into traffic volume and P95 latency percentiles.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PROOF 1 &amp;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Mandatory Evidence: Automated CI/CD Pipeline &amp; GitHub Repository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1. GitHub Actions CI/CD Pipeline (All Green)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Parallel Pytest quality gates, Vite frontend compilation, and Trivy security gate.</a:t>
            </a:r>
          </a:p>
        </p:txBody>
      </p:sp>
      <p:pic>
        <p:nvPicPr>
          <p:cNvPr id="7" name="Picture 6" descr="im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754880" cy="9652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t>2. GitHub Code Repository &amp; Git Hygiene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Clean monorepo structure, zero committed secrets, and conventional commit logs.</a:t>
            </a:r>
          </a:p>
        </p:txBody>
      </p:sp>
      <p:pic>
        <p:nvPicPr>
          <p:cNvPr id="10" name="Picture 9" descr="image-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4846320" cy="284437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PROOF 3 &amp;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Mandatory Evidence: Docker Compose Stack &amp; Kubernetes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3. Docker Compose Local Stack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Single-command developer onboarding running PostgreSQL, Backend, and Frontend.</a:t>
            </a:r>
          </a:p>
        </p:txBody>
      </p:sp>
      <p:pic>
        <p:nvPicPr>
          <p:cNvPr id="7" name="Picture 6" descr="imag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606040"/>
            <a:ext cx="4754880" cy="342624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17920" y="1645920"/>
            <a:ext cx="52120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4. Kubernetes Cluster &amp; Pod Health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kubectl get pods,svc showing 2 replicas per tier and healthy ClusterIP services.</a:t>
            </a:r>
          </a:p>
        </p:txBody>
      </p:sp>
      <p:pic>
        <p:nvPicPr>
          <p:cNvPr id="10" name="Picture 9" descr="image-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606040"/>
            <a:ext cx="4846320" cy="2790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OPERATIONAL ROI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Measurable Business Outcomes &amp; Production Stability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0 BROKEN RELEASES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100% Quality Gate Enforcement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Every push validated with automated Pytest suites.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Failed unit tests immediately halt CI pipeline.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Eliminates broken builds and customer-facing downtime.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43F5E"/>
                </a:solidFill>
              </a:defRPr>
            </a:pPr>
            <a:r>
              <a:t>SHIFT-LEFT SECURITY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0 Actionable CVEs in Registries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Aqua Trivy scans container layers before image push.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High/Critical vulnerabilities blocked by exit code 1.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Hardened base OS and unprivileged runtime containers.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828800"/>
            <a:ext cx="329184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2011680"/>
            <a:ext cx="29260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99.9% RESILIENCE</a:t>
            </a:r>
          </a:p>
          <a:p>
            <a:pPr>
              <a:spcBef>
                <a:spcPts val="400"/>
              </a:spcBef>
              <a:defRPr sz="1200" b="1">
                <a:solidFill>
                  <a:srgbClr val="F8FAFC"/>
                </a:solidFill>
              </a:defRPr>
            </a:pPr>
            <a:r>
              <a:t>Self-Healing Cloud Architecture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2 replicas per microservice tier with rolling updates.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Real-time Prometheus scraping tracks P95 latencies.</a:t>
            </a:r>
          </a:p>
          <a:p>
            <a:pPr>
              <a:spcBef>
                <a:spcPts val="1200"/>
              </a:spcBef>
              <a:defRPr sz="1100">
                <a:solidFill>
                  <a:srgbClr val="E2E8F0"/>
                </a:solidFill>
              </a:defRPr>
            </a:pPr>
            <a:r>
              <a:t>• Grafana dashboards visualize traffic patterns &amp; health.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20040"/>
          </a:xfrm>
          <a:prstGeom prst="roundRect">
            <a:avLst/>
          </a:prstGeom>
          <a:solidFill>
            <a:srgbClr val="1E293B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6B6D4"/>
                </a:solidFill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Capstone Summary: Production-Ready DevOps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4805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100584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6B6D4"/>
                </a:solidFill>
              </a:defRPr>
            </a:pPr>
            <a:r>
              <a:t>WHAT WE DELIVERED ACROSS 10 MILESTONES (100 / 100 PTS)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Full-Stack Cloud-Native SaaS: React 18 frontend + FastAPI backend + PostgreSQL with deterministic static code analysis.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Enterprise CI/CD Automation: GitHub Actions with parallel testing, Vite compilation, and multi-registry publishing (GHCR &amp; Docker Hub).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Hardened DevSecOps &amp; IaC: Trivy vulnerability scan gate, multi-AZ AWS VPC &amp; EKS codified in modular Terraform.</a:t>
            </a:r>
          </a:p>
          <a:p>
            <a:pPr>
              <a:spcBef>
                <a:spcPts val="1000"/>
              </a:spcBef>
              <a:defRPr sz="1200">
                <a:solidFill>
                  <a:srgbClr val="F8FAFC"/>
                </a:solidFill>
              </a:defRPr>
            </a:pPr>
            <a:r>
              <a:t>✔ Kubernetes &amp; Observability: Production Helm chart deployment with 2 replicas per tier and real-time Prometheus/Grafana dashboards.</a:t>
            </a:r>
          </a:p>
          <a:p>
            <a:pPr>
              <a:spcBef>
                <a:spcPts val="2400"/>
              </a:spcBef>
              <a:defRPr sz="1400" b="1">
                <a:solidFill>
                  <a:srgbClr val="10B981"/>
                </a:solidFill>
              </a:defRPr>
            </a:pPr>
            <a:r>
              <a:t>Ready to proceed to live demonstration and evaluator Q&amp;A!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